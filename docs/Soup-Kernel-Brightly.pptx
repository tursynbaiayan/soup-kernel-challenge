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a698f703-3ad3-cb48-1095-9c5c42583ec0}">
          <p14:sldIdLst>
            <p14:sldId id="256"/>
          </p14:sldIdLst>
        </p14:section>
        <p14:section name="Задача" id="{1f06a0de-30f1-f697-695e-32a248f225a3}">
          <p14:sldIdLst>
            <p14:sldId id="257"/>
            <p14:sldId id="258"/>
          </p14:sldIdLst>
        </p14:section>
        <p14:section name="Решение" id="{8e8aed0d-4f6e-7b90-c005-da5ad48e4fc1}">
          <p14:sldIdLst>
            <p14:sldId id="259"/>
            <p14:sldId id="260"/>
            <p14:sldId id="261"/>
          </p14:sldIdLst>
        </p14:section>
        <p14:section name="Результаты" id="{ab905df6-b8eb-fe8f-7369-b07d6b003829}">
          <p14:sldIdLst>
            <p14:sldId id="262"/>
            <p14:sldId id="263"/>
          </p14:sldIdLst>
        </p14:section>
        <p14:section name="Дальше" id="{e641fdf0-7356-a81f-7455-879c9a8e38d4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23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230"/>
                </a:solidFill>
                <a:latin typeface="+mn-lt"/>
              </a:rPr>
              <a:t>GPU-время шага, % (профиль базы из ТЗ)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Шаг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8799"/>
              </a:solidFill>
              <a:effectLst/>
            </c:spPr>
          </c:dPt>
          <c:dPt>
            <c:idx val="1"/>
            <c:bubble3D val="0"/>
            <c:spPr>
              <a:solidFill>
                <a:srgbClr val="A9B1BE"/>
              </a:solidFill>
              <a:effectLst/>
            </c:spPr>
          </c:dPt>
          <c:dPt>
            <c:idx val="2"/>
            <c:bubble3D val="0"/>
            <c:spPr>
              <a:solidFill>
                <a:srgbClr val="F5A524"/>
              </a:solidFill>
              <a:effectLst/>
            </c:spPr>
          </c:dPt>
          <c:dPt>
            <c:idx val="3"/>
            <c:bubble3D val="0"/>
            <c:spPr>
              <a:solidFill>
                <a:srgbClr val="C9CFD8"/>
              </a:solidFill>
              <a:effectLst/>
            </c:spPr>
          </c:dPt>
          <c:dPt>
            <c:idx val="4"/>
            <c:bubble3D val="0"/>
            <c:spPr>
              <a:solidFill>
                <a:srgbClr val="DDE1E7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Поэлементные операции и касты</c:v>
                </c:pt>
                <c:pt idx="1">
                  <c:v>Умножение матриц</c:v>
                </c:pt>
                <c:pt idx="2">
                  <c:v>Softmax / cross-entropy</c:v>
                </c:pt>
                <c:pt idx="3">
                  <c:v>Attention</c:v>
                </c:pt>
                <c:pt idx="4">
                  <c:v>Распаковка NF4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44</c:v>
                </c:pt>
                <c:pt idx="1">
                  <c:v>36</c:v>
                </c:pt>
                <c:pt idx="2">
                  <c:v>7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0"/>
                </a:solidFill>
                <a:latin typeface="+mn-lt"/>
              </a:rPr>
              <a:t>Время forward + backward головы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forward + backward головы</c:v>
                </c:pt>
              </c:strCache>
            </c:strRef>
          </c:tx>
          <c:spPr>
            <a:solidFill>
              <a:srgbClr val="7C8799"/>
            </a:solidFill>
            <a:effectLst/>
          </c:spPr>
          <c:invertIfNegative val="0"/>
          <c:dLbls>
            <c:numFmt formatCode="#,##0&quot; мс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2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87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52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Эталон (autocast)</c:v>
                  </c:pt>
                  <c:pt idx="1">
                    <c:v>Наши кернелы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218</c:v>
                </c:pt>
                <c:pt idx="1">
                  <c:v>93</c:v>
                </c:pt>
              </c:numCache>
            </c:numRef>
          </c:val>
        </c:ser>
        <c:dLbls>
          <c:numFmt formatCode="#,##0&quot; мс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B22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2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0"/>
                </a:solidFill>
                <a:latin typeface="+mn-lt"/>
              </a:rPr>
              <a:t>Дополнительный пик памяти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Дополнительный пик памяти</c:v>
                </c:pt>
              </c:strCache>
            </c:strRef>
          </c:tx>
          <c:spPr>
            <a:solidFill>
              <a:srgbClr val="7C8799"/>
            </a:solidFill>
            <a:effectLst/>
          </c:spPr>
          <c:invertIfNegative val="0"/>
          <c:dLbls>
            <c:numFmt formatCode="#,##0&quot; МиБ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2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87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52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Эталон (autocast)</c:v>
                  </c:pt>
                  <c:pt idx="1">
                    <c:v>Наши кернелы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3800</c:v>
                </c:pt>
                <c:pt idx="1">
                  <c:v>295</c:v>
                </c:pt>
              </c:numCache>
            </c:numRef>
          </c:val>
        </c:ser>
        <c:dLbls>
          <c:numFmt formatCode="#,##0&quot; МиБ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B22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2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9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ускоряли и облегчали голову модели: lm_head и функцию потерь. Три собственных Triton-кернела, подключённых к Soup одной функцией apply().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Исходные цифры из ТЗ: около 80 секунд и 14 из 15 гигабайт. Словарь Qwen огромный, поэтому логиты — главный потребитель памяти.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Brightly Production · Decentrathon 6.0 · Soup Kernel Challenge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Brightly Production · Decentrathon 6.0 · Soup Kernel Challenge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Голова модели без логитов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Слитый lm_head + cross-entropy на Triton для soup train на Kaggle T4</a:t>
            </a:r>
            <a:endParaRPr lang="en-US" sz="1800" dirty="0"/>
          </a:p>
        </p:txBody>
      </p:sp>
      <p:sp>
        <p:nvSpPr>
          <p:cNvPr id="4" name="chip-1"/>
          <p:cNvSpPr/>
          <p:nvPr/>
        </p:nvSpPr>
        <p:spPr>
          <a:xfrm>
            <a:off x="548640" y="548640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5" name="text-2"/>
          <p:cNvSpPr txBox="1"/>
          <p:nvPr/>
        </p:nvSpPr>
        <p:spPr>
          <a:xfrm>
            <a:off x="548640" y="548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6" name="text-3"/>
          <p:cNvSpPr txBox="1"/>
          <p:nvPr/>
        </p:nvSpPr>
        <p:spPr>
          <a:xfrm>
            <a:off x="105156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своих @triton.jit-кернела</a:t>
            </a:r>
            <a:endParaRPr lang="en-US" sz="1400" dirty="0"/>
          </a:p>
        </p:txBody>
      </p:sp>
      <p:sp>
        <p:nvSpPr>
          <p:cNvPr id="7" name="text-4"/>
          <p:cNvSpPr txBox="1"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Brightly Production · Decentrathon 6.0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T4 упирается в память, а не в модель</a:t>
            </a:r>
            <a:endParaRPr lang="en-US" sz="2800" dirty="0"/>
          </a:p>
        </p:txBody>
      </p:sp>
      <p:sp>
        <p:nvSpPr>
          <p:cNvPr id="3" name="text-5"/>
          <p:cNvSpPr txBox="1"/>
          <p:nvPr/>
        </p:nvSpPr>
        <p:spPr>
          <a:xfrm>
            <a:off x="45720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14,3 ГБ</a:t>
            </a:r>
            <a:endParaRPr lang="en-US" sz="4400" dirty="0"/>
          </a:p>
        </p:txBody>
      </p:sp>
      <p:sp>
        <p:nvSpPr>
          <p:cNvPr id="4" name="text-6"/>
          <p:cNvSpPr txBox="1"/>
          <p:nvPr/>
        </p:nvSpPr>
        <p:spPr>
          <a:xfrm>
            <a:off x="457200" y="20756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пик памяти базового Soup из 15 ГБ на T4</a:t>
            </a:r>
            <a:endParaRPr lang="en-US" sz="1300" dirty="0"/>
          </a:p>
        </p:txBody>
      </p:sp>
      <p:sp>
        <p:nvSpPr>
          <p:cNvPr id="5" name="text-7"/>
          <p:cNvSpPr txBox="1"/>
          <p:nvPr/>
        </p:nvSpPr>
        <p:spPr>
          <a:xfrm>
            <a:off x="324612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80 с</a:t>
            </a:r>
            <a:endParaRPr lang="en-US" sz="4400" dirty="0"/>
          </a:p>
        </p:txBody>
      </p:sp>
      <p:sp>
        <p:nvSpPr>
          <p:cNvPr id="6" name="text-8"/>
          <p:cNvSpPr txBox="1"/>
          <p:nvPr/>
        </p:nvSpPr>
        <p:spPr>
          <a:xfrm>
            <a:off x="3246120" y="20756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весь soup train: 64 шага, Qwen2.5-1.5B NF4, LoRA r=16</a:t>
            </a:r>
            <a:endParaRPr lang="en-US" sz="1300" dirty="0"/>
          </a:p>
        </p:txBody>
      </p:sp>
      <p:sp>
        <p:nvSpPr>
          <p:cNvPr id="7" name="text-9"/>
          <p:cNvSpPr txBox="1"/>
          <p:nvPr/>
        </p:nvSpPr>
        <p:spPr>
          <a:xfrm>
            <a:off x="6035040" y="1234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 тыс.</a:t>
            </a:r>
            <a:endParaRPr lang="en-US" sz="4400" dirty="0"/>
          </a:p>
        </p:txBody>
      </p:sp>
      <p:sp>
        <p:nvSpPr>
          <p:cNvPr id="8" name="text-10"/>
          <p:cNvSpPr txBox="1"/>
          <p:nvPr/>
        </p:nvSpPr>
        <p:spPr>
          <a:xfrm>
            <a:off x="6035040" y="20756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токенов в словаре: логиты [4 × 512 × 151 936]</a:t>
            </a:r>
            <a:endParaRPr lang="en-US" sz="1300" dirty="0"/>
          </a:p>
        </p:txBody>
      </p:sp>
      <p:sp>
        <p:nvSpPr>
          <p:cNvPr id="9" name="card-11"/>
          <p:cNvSpPr/>
          <p:nvPr/>
        </p:nvSpPr>
        <p:spPr>
          <a:xfrm>
            <a:off x="457200" y="306324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EEF1F5"/>
          </a:solidFill>
          <a:ln/>
        </p:spPr>
      </p:sp>
      <p:sp>
        <p:nvSpPr>
          <p:cNvPr id="10" name="text-12"/>
          <p:cNvSpPr txBox="1"/>
          <p:nvPr/>
        </p:nvSpPr>
        <p:spPr>
          <a:xfrm>
            <a:off x="685800" y="32461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Задача кейса.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Тот же запуск обучения — быстрее или с меньшей памятью, адаптер того же качества. Свои Triton-кернелы ≥ 5% времени обучения; loss, энтропия, точность и rewind-лог — в пределах 1–3% от базы.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Куда уходит шаг обучения</a:t>
            </a:r>
            <a:endParaRPr lang="en-US" sz="2800" dirty="0"/>
          </a:p>
        </p:txBody>
      </p:sp>
      <p:graphicFrame>
        <p:nvGraphicFramePr>
          <p:cNvPr id="3" name="chart-13" descr=""/>
          <p:cNvGraphicFramePr/>
          <p:nvPr/>
        </p:nvGraphicFramePr>
        <p:xfrm>
          <a:off x="365760" y="100584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-14"/>
          <p:cNvSpPr txBox="1"/>
          <p:nvPr/>
        </p:nvSpPr>
        <p:spPr>
          <a:xfrm>
            <a:off x="493776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Хвост модели при T = 512</a:t>
            </a:r>
            <a:endParaRPr lang="en-US" sz="1600" dirty="0"/>
          </a:p>
        </p:txBody>
      </p:sp>
      <p:sp>
        <p:nvSpPr>
          <p:cNvPr id="5" name="card-15"/>
          <p:cNvSpPr/>
          <p:nvPr/>
        </p:nvSpPr>
        <p:spPr>
          <a:xfrm>
            <a:off x="4937760" y="1554480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EEF1F5"/>
          </a:solidFill>
          <a:ln/>
        </p:spPr>
      </p:sp>
      <p:sp>
        <p:nvSpPr>
          <p:cNvPr id="6" name="text-16"/>
          <p:cNvSpPr txBox="1"/>
          <p:nvPr/>
        </p:nvSpPr>
        <p:spPr>
          <a:xfrm>
            <a:off x="5120640" y="15544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Логиты fp16 [4, T, V]</a:t>
            </a:r>
            <a:endParaRPr lang="en-US" sz="1300" dirty="0"/>
          </a:p>
        </p:txBody>
      </p:sp>
      <p:sp>
        <p:nvSpPr>
          <p:cNvPr id="7" name="text-17"/>
          <p:cNvSpPr txBox="1"/>
          <p:nvPr/>
        </p:nvSpPr>
        <p:spPr>
          <a:xfrm>
            <a:off x="7589520" y="155448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0,6 ГБ</a:t>
            </a:r>
            <a:endParaRPr lang="en-US" sz="1400" dirty="0"/>
          </a:p>
        </p:txBody>
      </p:sp>
      <p:sp>
        <p:nvSpPr>
          <p:cNvPr id="8" name="card-18"/>
          <p:cNvSpPr/>
          <p:nvPr/>
        </p:nvSpPr>
        <p:spPr>
          <a:xfrm>
            <a:off x="4937760" y="2121408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EEF1F5"/>
          </a:solidFill>
          <a:ln/>
        </p:spPr>
      </p:sp>
      <p:sp>
        <p:nvSpPr>
          <p:cNvPr id="9" name="text-19"/>
          <p:cNvSpPr txBox="1"/>
          <p:nvPr/>
        </p:nvSpPr>
        <p:spPr>
          <a:xfrm>
            <a:off x="5120640" y="21214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Их fp32-копия для loss</a:t>
            </a:r>
            <a:endParaRPr lang="en-US" sz="1300" dirty="0"/>
          </a:p>
        </p:txBody>
      </p:sp>
      <p:sp>
        <p:nvSpPr>
          <p:cNvPr id="10" name="text-20"/>
          <p:cNvSpPr txBox="1"/>
          <p:nvPr/>
        </p:nvSpPr>
        <p:spPr>
          <a:xfrm>
            <a:off x="7589520" y="212140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1,2 ГБ</a:t>
            </a:r>
            <a:endParaRPr lang="en-US" sz="1400" dirty="0"/>
          </a:p>
        </p:txBody>
      </p:sp>
      <p:sp>
        <p:nvSpPr>
          <p:cNvPr id="11" name="card-21"/>
          <p:cNvSpPr/>
          <p:nvPr/>
        </p:nvSpPr>
        <p:spPr>
          <a:xfrm>
            <a:off x="4937760" y="2688336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EEF1F5"/>
          </a:solidFill>
          <a:ln/>
        </p:spPr>
      </p:sp>
      <p:sp>
        <p:nvSpPr>
          <p:cNvPr id="12" name="text-22"/>
          <p:cNvSpPr txBox="1"/>
          <p:nvPr/>
        </p:nvSpPr>
        <p:spPr>
          <a:xfrm>
            <a:off x="5120640" y="26883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Буферы softmax и градиента</a:t>
            </a:r>
            <a:endParaRPr lang="en-US" sz="1300" dirty="0"/>
          </a:p>
        </p:txBody>
      </p:sp>
      <p:sp>
        <p:nvSpPr>
          <p:cNvPr id="13" name="text-23"/>
          <p:cNvSpPr txBox="1"/>
          <p:nvPr/>
        </p:nvSpPr>
        <p:spPr>
          <a:xfrm>
            <a:off x="7589520" y="268833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≈1,2 ГБ</a:t>
            </a:r>
            <a:endParaRPr lang="en-US" sz="1400" dirty="0"/>
          </a:p>
        </p:txBody>
      </p:sp>
      <p:sp>
        <p:nvSpPr>
          <p:cNvPr id="14" name="card-24"/>
          <p:cNvSpPr/>
          <p:nvPr/>
        </p:nvSpPr>
        <p:spPr>
          <a:xfrm>
            <a:off x="4937760" y="3255264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EEF1F5"/>
          </a:solidFill>
          <a:ln/>
        </p:spPr>
      </p:sp>
      <p:sp>
        <p:nvSpPr>
          <p:cNvPr id="15" name="text-25"/>
          <p:cNvSpPr txBox="1"/>
          <p:nvPr/>
        </p:nvSpPr>
        <p:spPr>
          <a:xfrm>
            <a:off x="5120640" y="325526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fp16-копия веса lm_head</a:t>
            </a:r>
            <a:endParaRPr lang="en-US" sz="1300" dirty="0"/>
          </a:p>
        </p:txBody>
      </p:sp>
      <p:sp>
        <p:nvSpPr>
          <p:cNvPr id="16" name="text-26"/>
          <p:cNvSpPr txBox="1"/>
          <p:nvPr/>
        </p:nvSpPr>
        <p:spPr>
          <a:xfrm>
            <a:off x="7589520" y="3255264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0,47 ГБ</a:t>
            </a:r>
            <a:endParaRPr lang="en-US" sz="1400" dirty="0"/>
          </a:p>
        </p:txBody>
      </p:sp>
      <p:sp>
        <p:nvSpPr>
          <p:cNvPr id="17" name="text-27"/>
          <p:cNvSpPr txBox="1"/>
          <p:nvPr/>
        </p:nvSpPr>
        <p:spPr>
          <a:xfrm>
            <a:off x="4937760" y="3886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Голова заморожена: логиты нужны только loss и метрикам.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Идея: не создавать логиты вообще</a:t>
            </a:r>
            <a:endParaRPr lang="en-US" sz="2800" dirty="0"/>
          </a:p>
        </p:txBody>
      </p:sp>
      <p:sp>
        <p:nvSpPr>
          <p:cNvPr id="3" name="card-28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EF1F5"/>
          </a:solidFill>
          <a:ln/>
        </p:spPr>
      </p:sp>
      <p:sp>
        <p:nvSpPr>
          <p:cNvPr id="4" name="text-29"/>
          <p:cNvSpPr txBox="1"/>
          <p:nvPr/>
        </p:nvSpPr>
        <p:spPr>
          <a:xfrm>
            <a:off x="73152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База Soup</a:t>
            </a:r>
            <a:endParaRPr lang="en-US" sz="1800" dirty="0"/>
          </a:p>
        </p:txBody>
      </p:sp>
      <p:sp>
        <p:nvSpPr>
          <p:cNvPr id="5" name="chip-30"/>
          <p:cNvSpPr/>
          <p:nvPr/>
        </p:nvSpPr>
        <p:spPr>
          <a:xfrm>
            <a:off x="731520" y="1828800"/>
            <a:ext cx="384048" cy="384048"/>
          </a:xfrm>
          <a:prstGeom prst="ellipse">
            <a:avLst/>
          </a:prstGeom>
          <a:solidFill>
            <a:srgbClr val="7C8799"/>
          </a:solidFill>
          <a:ln/>
        </p:spPr>
      </p:sp>
      <p:sp>
        <p:nvSpPr>
          <p:cNvPr id="6" name="text-31"/>
          <p:cNvSpPr txBox="1"/>
          <p:nvPr/>
        </p:nvSpPr>
        <p:spPr>
          <a:xfrm>
            <a:off x="73152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-32"/>
          <p:cNvSpPr txBox="1"/>
          <p:nvPr/>
        </p:nvSpPr>
        <p:spPr>
          <a:xfrm>
            <a:off x="1234440" y="18288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Каст fp32-веса lm_head → fp16 (467 МБ)</a:t>
            </a:r>
            <a:endParaRPr lang="en-US" sz="1300" dirty="0"/>
          </a:p>
        </p:txBody>
      </p:sp>
      <p:sp>
        <p:nvSpPr>
          <p:cNvPr id="8" name="chip-33"/>
          <p:cNvSpPr/>
          <p:nvPr/>
        </p:nvSpPr>
        <p:spPr>
          <a:xfrm>
            <a:off x="731520" y="2468880"/>
            <a:ext cx="384048" cy="384048"/>
          </a:xfrm>
          <a:prstGeom prst="ellipse">
            <a:avLst/>
          </a:prstGeom>
          <a:solidFill>
            <a:srgbClr val="7C8799"/>
          </a:solidFill>
          <a:ln/>
        </p:spPr>
      </p:sp>
      <p:sp>
        <p:nvSpPr>
          <p:cNvPr id="9" name="text-34"/>
          <p:cNvSpPr txBox="1"/>
          <p:nvPr/>
        </p:nvSpPr>
        <p:spPr>
          <a:xfrm>
            <a:off x="73152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-35"/>
          <p:cNvSpPr txBox="1"/>
          <p:nvPr/>
        </p:nvSpPr>
        <p:spPr>
          <a:xfrm>
            <a:off x="1234440" y="2468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Логиты для всех позиций, включая pad</a:t>
            </a:r>
            <a:endParaRPr lang="en-US" sz="1300" dirty="0"/>
          </a:p>
        </p:txBody>
      </p:sp>
      <p:sp>
        <p:nvSpPr>
          <p:cNvPr id="11" name="chip-36"/>
          <p:cNvSpPr/>
          <p:nvPr/>
        </p:nvSpPr>
        <p:spPr>
          <a:xfrm>
            <a:off x="731520" y="3108960"/>
            <a:ext cx="384048" cy="384048"/>
          </a:xfrm>
          <a:prstGeom prst="ellipse">
            <a:avLst/>
          </a:prstGeom>
          <a:solidFill>
            <a:srgbClr val="7C8799"/>
          </a:solidFill>
          <a:ln/>
        </p:spPr>
      </p:sp>
      <p:sp>
        <p:nvSpPr>
          <p:cNvPr id="12" name="text-37"/>
          <p:cNvSpPr txBox="1"/>
          <p:nvPr/>
        </p:nvSpPr>
        <p:spPr>
          <a:xfrm>
            <a:off x="7315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-38"/>
          <p:cNvSpPr txBox="1"/>
          <p:nvPr/>
        </p:nvSpPr>
        <p:spPr>
          <a:xfrm>
            <a:off x="1234440" y="3108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Апкаст в fp32 и буферы softmax/градиента</a:t>
            </a:r>
            <a:endParaRPr lang="en-US" sz="1300" dirty="0"/>
          </a:p>
        </p:txBody>
      </p:sp>
      <p:sp>
        <p:nvSpPr>
          <p:cNvPr id="14" name="chip-39"/>
          <p:cNvSpPr/>
          <p:nvPr/>
        </p:nvSpPr>
        <p:spPr>
          <a:xfrm>
            <a:off x="731520" y="3749040"/>
            <a:ext cx="384048" cy="384048"/>
          </a:xfrm>
          <a:prstGeom prst="ellipse">
            <a:avLst/>
          </a:prstGeom>
          <a:solidFill>
            <a:srgbClr val="7C8799"/>
          </a:solidFill>
          <a:ln/>
        </p:spPr>
      </p:sp>
      <p:sp>
        <p:nvSpPr>
          <p:cNvPr id="15" name="text-40"/>
          <p:cNvSpPr txBox="1"/>
          <p:nvPr/>
        </p:nvSpPr>
        <p:spPr>
          <a:xfrm>
            <a:off x="73152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-41"/>
          <p:cNvSpPr txBox="1"/>
          <p:nvPr/>
        </p:nvSpPr>
        <p:spPr>
          <a:xfrm>
            <a:off x="1234440" y="3749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TRL и rewind заново читают полные логиты</a:t>
            </a:r>
            <a:endParaRPr lang="en-US" sz="1300" dirty="0"/>
          </a:p>
        </p:txBody>
      </p:sp>
      <p:sp>
        <p:nvSpPr>
          <p:cNvPr id="17" name="card-4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0E1116"/>
          </a:solidFill>
          <a:ln/>
        </p:spPr>
      </p:sp>
      <p:sp>
        <p:nvSpPr>
          <p:cNvPr id="18" name="text-43"/>
          <p:cNvSpPr txBox="1"/>
          <p:nvPr/>
        </p:nvSpPr>
        <p:spPr>
          <a:xfrm>
            <a:off x="493776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Наше решение</a:t>
            </a:r>
            <a:endParaRPr lang="en-US" sz="1800" dirty="0"/>
          </a:p>
        </p:txBody>
      </p:sp>
      <p:sp>
        <p:nvSpPr>
          <p:cNvPr id="19" name="chip-44"/>
          <p:cNvSpPr/>
          <p:nvPr/>
        </p:nvSpPr>
        <p:spPr>
          <a:xfrm>
            <a:off x="4937760" y="1828800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0" name="text-45"/>
          <p:cNvSpPr txBox="1"/>
          <p:nvPr/>
        </p:nvSpPr>
        <p:spPr>
          <a:xfrm>
            <a:off x="49377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-46"/>
          <p:cNvSpPr txBox="1"/>
          <p:nvPr/>
        </p:nvSpPr>
        <p:spPr>
          <a:xfrm>
            <a:off x="5440680" y="18288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Вес читается в fp32, округляется в регистрах</a:t>
            </a:r>
            <a:endParaRPr lang="en-US" sz="1300" dirty="0"/>
          </a:p>
        </p:txBody>
      </p:sp>
      <p:sp>
        <p:nvSpPr>
          <p:cNvPr id="22" name="chip-47"/>
          <p:cNvSpPr/>
          <p:nvPr/>
        </p:nvSpPr>
        <p:spPr>
          <a:xfrm>
            <a:off x="4937760" y="2468880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3" name="text-48"/>
          <p:cNvSpPr txBox="1"/>
          <p:nvPr/>
        </p:nvSpPr>
        <p:spPr>
          <a:xfrm>
            <a:off x="493776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text-49"/>
          <p:cNvSpPr txBox="1"/>
          <p:nvPr/>
        </p:nvSpPr>
        <p:spPr>
          <a:xfrm>
            <a:off x="5440680" y="2468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Только реальные позиции, чанки по 1 024</a:t>
            </a:r>
            <a:endParaRPr lang="en-US" sz="1300" dirty="0"/>
          </a:p>
        </p:txBody>
      </p:sp>
      <p:sp>
        <p:nvSpPr>
          <p:cNvPr id="25" name="chip-50"/>
          <p:cNvSpPr/>
          <p:nvPr/>
        </p:nvSpPr>
        <p:spPr>
          <a:xfrm>
            <a:off x="4937760" y="3108960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6" name="text-51"/>
          <p:cNvSpPr txBox="1"/>
          <p:nvPr/>
        </p:nvSpPr>
        <p:spPr>
          <a:xfrm>
            <a:off x="493776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-52"/>
          <p:cNvSpPr txBox="1"/>
          <p:nvPr/>
        </p:nvSpPr>
        <p:spPr>
          <a:xfrm>
            <a:off x="5440680" y="3108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Loss, энтропия, argmax и градиент за один проход</a:t>
            </a:r>
            <a:endParaRPr lang="en-US" sz="1300" dirty="0"/>
          </a:p>
        </p:txBody>
      </p:sp>
      <p:sp>
        <p:nvSpPr>
          <p:cNvPr id="28" name="chip-53"/>
          <p:cNvSpPr/>
          <p:nvPr/>
        </p:nvSpPr>
        <p:spPr>
          <a:xfrm>
            <a:off x="4937760" y="3749040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9" name="text-54"/>
          <p:cNvSpPr txBox="1"/>
          <p:nvPr/>
        </p:nvSpPr>
        <p:spPr>
          <a:xfrm>
            <a:off x="49377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-55"/>
          <p:cNvSpPr txBox="1"/>
          <p:nvPr/>
        </p:nvSpPr>
        <p:spPr>
          <a:xfrm>
            <a:off x="5440680" y="3749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Метрики TRL и rewind — из значений кернелов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Три кернела на чанк реальных позиций</a:t>
            </a:r>
            <a:endParaRPr lang="en-US" sz="2800" dirty="0"/>
          </a:p>
        </p:txBody>
      </p:sp>
      <p:sp>
        <p:nvSpPr>
          <p:cNvPr id="3" name="card-56"/>
          <p:cNvSpPr/>
          <p:nvPr/>
        </p:nvSpPr>
        <p:spPr>
          <a:xfrm>
            <a:off x="457200" y="11430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B2230"/>
          </a:solidFill>
          <a:ln/>
        </p:spPr>
      </p:sp>
      <p:sp>
        <p:nvSpPr>
          <p:cNvPr id="4" name="chip-57"/>
          <p:cNvSpPr/>
          <p:nvPr/>
        </p:nvSpPr>
        <p:spPr>
          <a:xfrm>
            <a:off x="685800" y="1325880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5" name="text-58"/>
          <p:cNvSpPr txBox="1"/>
          <p:nvPr/>
        </p:nvSpPr>
        <p:spPr>
          <a:xfrm>
            <a:off x="6858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-59"/>
          <p:cNvSpPr txBox="1"/>
          <p:nvPr/>
        </p:nvSpPr>
        <p:spPr>
          <a:xfrm>
            <a:off x="685800" y="1828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Логиты = h · Wᵀ</a:t>
            </a:r>
            <a:endParaRPr lang="en-US" sz="1600" dirty="0"/>
          </a:p>
        </p:txBody>
      </p:sp>
      <p:sp>
        <p:nvSpPr>
          <p:cNvPr id="7" name="text-60"/>
          <p:cNvSpPr txBox="1"/>
          <p:nvPr/>
        </p:nvSpPr>
        <p:spPr>
          <a:xfrm>
            <a:off x="68580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lm_head_logits_kernel</a:t>
            </a:r>
            <a:endParaRPr lang="en-US" sz="1000" dirty="0"/>
          </a:p>
        </p:txBody>
      </p:sp>
      <p:sp>
        <p:nvSpPr>
          <p:cNvPr id="8" name="text-61"/>
          <p:cNvSpPr txBox="1"/>
          <p:nvPr/>
        </p:nvSpPr>
        <p:spPr>
          <a:xfrm>
            <a:off x="685800" y="27889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FD8"/>
                </a:solidFill>
              </a:rPr>
              <a:t>W читается в fp32 и округляется до fp16 в регистрах, как у autocast. Тайлы идут по строкам, чтобы кусок W брался из L2.</a:t>
            </a:r>
            <a:endParaRPr lang="en-US" sz="1200" dirty="0"/>
          </a:p>
        </p:txBody>
      </p:sp>
      <p:sp>
        <p:nvSpPr>
          <p:cNvPr id="9" name="card-62"/>
          <p:cNvSpPr/>
          <p:nvPr/>
        </p:nvSpPr>
        <p:spPr>
          <a:xfrm>
            <a:off x="3246120" y="11430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B2230"/>
          </a:solidFill>
          <a:ln/>
        </p:spPr>
      </p:sp>
      <p:sp>
        <p:nvSpPr>
          <p:cNvPr id="10" name="chip-63"/>
          <p:cNvSpPr/>
          <p:nvPr/>
        </p:nvSpPr>
        <p:spPr>
          <a:xfrm>
            <a:off x="3474720" y="1325880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1" name="text-64"/>
          <p:cNvSpPr txBox="1"/>
          <p:nvPr/>
        </p:nvSpPr>
        <p:spPr>
          <a:xfrm>
            <a:off x="34747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-65"/>
          <p:cNvSpPr txBox="1"/>
          <p:nvPr/>
        </p:nvSpPr>
        <p:spPr>
          <a:xfrm>
            <a:off x="3474720" y="1828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Online-softmax по словарю</a:t>
            </a:r>
            <a:endParaRPr lang="en-US" sz="1600" dirty="0"/>
          </a:p>
        </p:txBody>
      </p:sp>
      <p:sp>
        <p:nvSpPr>
          <p:cNvPr id="13" name="text-66"/>
          <p:cNvSpPr txBox="1"/>
          <p:nvPr/>
        </p:nvSpPr>
        <p:spPr>
          <a:xfrm>
            <a:off x="347472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ce_stats_grad_kernel</a:t>
            </a:r>
            <a:endParaRPr lang="en-US" sz="1000" dirty="0"/>
          </a:p>
        </p:txBody>
      </p:sp>
      <p:sp>
        <p:nvSpPr>
          <p:cNvPr id="14" name="text-67"/>
          <p:cNvSpPr txBox="1"/>
          <p:nvPr/>
        </p:nvSpPr>
        <p:spPr>
          <a:xfrm>
            <a:off x="3474720" y="27889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FD8"/>
                </a:solidFill>
              </a:rPr>
              <a:t>Max, Σe, Σe·x → log-sum-exp, энтропия, argmax, CE метки. Второй проход пишет (softmax − onehot)·256 на место логитов.</a:t>
            </a:r>
            <a:endParaRPr lang="en-US" sz="1200" dirty="0"/>
          </a:p>
        </p:txBody>
      </p:sp>
      <p:sp>
        <p:nvSpPr>
          <p:cNvPr id="15" name="card-68"/>
          <p:cNvSpPr/>
          <p:nvPr/>
        </p:nvSpPr>
        <p:spPr>
          <a:xfrm>
            <a:off x="6035040" y="11430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B2230"/>
          </a:solidFill>
          <a:ln/>
        </p:spPr>
      </p:sp>
      <p:sp>
        <p:nvSpPr>
          <p:cNvPr id="16" name="chip-69"/>
          <p:cNvSpPr/>
          <p:nvPr/>
        </p:nvSpPr>
        <p:spPr>
          <a:xfrm>
            <a:off x="6263640" y="1325880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7" name="text-70"/>
          <p:cNvSpPr txBox="1"/>
          <p:nvPr/>
        </p:nvSpPr>
        <p:spPr>
          <a:xfrm>
            <a:off x="6263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-71"/>
          <p:cNvSpPr txBox="1"/>
          <p:nvPr/>
        </p:nvSpPr>
        <p:spPr>
          <a:xfrm>
            <a:off x="6263640" y="18288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dh = G · W, split-K</a:t>
            </a:r>
            <a:endParaRPr lang="en-US" sz="1600" dirty="0"/>
          </a:p>
        </p:txBody>
      </p:sp>
      <p:sp>
        <p:nvSpPr>
          <p:cNvPr id="19" name="text-72"/>
          <p:cNvSpPr txBox="1"/>
          <p:nvPr/>
        </p:nvSpPr>
        <p:spPr>
          <a:xfrm>
            <a:off x="626364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lm_head_dgrad_kernel</a:t>
            </a:r>
            <a:endParaRPr lang="en-US" sz="1000" dirty="0"/>
          </a:p>
        </p:txBody>
      </p:sp>
      <p:sp>
        <p:nvSpPr>
          <p:cNvPr id="20" name="text-73"/>
          <p:cNvSpPr txBox="1"/>
          <p:nvPr/>
        </p:nvSpPr>
        <p:spPr>
          <a:xfrm>
            <a:off x="6263640" y="27889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FD8"/>
                </a:solidFill>
              </a:rPr>
              <a:t>Свёртка по 151 936 токенам делится между блоками, частичные суммы — atomic_add в fp32. Только позиции с меткой.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Детали, от которых зависит результат</a:t>
            </a:r>
            <a:endParaRPr lang="en-US" sz="2800" dirty="0"/>
          </a:p>
        </p:txBody>
      </p:sp>
      <p:sp>
        <p:nvSpPr>
          <p:cNvPr id="3" name="card-74"/>
          <p:cNvSpPr/>
          <p:nvPr/>
        </p:nvSpPr>
        <p:spPr>
          <a:xfrm>
            <a:off x="457200" y="1097280"/>
            <a:ext cx="4023360" cy="1024128"/>
          </a:xfrm>
          <a:prstGeom prst="roundRect">
            <a:avLst>
              <a:gd name="adj" fmla="val 7143"/>
            </a:avLst>
          </a:prstGeom>
          <a:solidFill>
            <a:srgbClr val="EEF1F5"/>
          </a:solidFill>
          <a:ln/>
        </p:spPr>
      </p:sp>
      <p:sp>
        <p:nvSpPr>
          <p:cNvPr id="4" name="text-75"/>
          <p:cNvSpPr txBox="1"/>
          <p:nvPr/>
        </p:nvSpPr>
        <p:spPr>
          <a:xfrm>
            <a:off x="685800" y="1216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Градиент в forward</a:t>
            </a:r>
            <a:endParaRPr lang="en-US" sz="1500" dirty="0"/>
          </a:p>
        </p:txBody>
      </p:sp>
      <p:sp>
        <p:nvSpPr>
          <p:cNvPr id="5" name="text-76"/>
          <p:cNvSpPr txBox="1"/>
          <p:nvPr/>
        </p:nvSpPr>
        <p:spPr>
          <a:xfrm>
            <a:off x="685800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Голова заморожена: dh считается сразу, backward только умножает на масштаб GradScaler.</a:t>
            </a:r>
            <a:endParaRPr lang="en-US" sz="1200" dirty="0"/>
          </a:p>
        </p:txBody>
      </p:sp>
      <p:sp>
        <p:nvSpPr>
          <p:cNvPr id="6" name="card-77"/>
          <p:cNvSpPr/>
          <p:nvPr/>
        </p:nvSpPr>
        <p:spPr>
          <a:xfrm>
            <a:off x="4663440" y="1097280"/>
            <a:ext cx="4023360" cy="1024128"/>
          </a:xfrm>
          <a:prstGeom prst="roundRect">
            <a:avLst>
              <a:gd name="adj" fmla="val 7143"/>
            </a:avLst>
          </a:prstGeom>
          <a:solidFill>
            <a:srgbClr val="EEF1F5"/>
          </a:solidFill>
          <a:ln/>
        </p:spPr>
      </p:sp>
      <p:sp>
        <p:nvSpPr>
          <p:cNvPr id="7" name="text-78"/>
          <p:cNvSpPr txBox="1"/>
          <p:nvPr/>
        </p:nvSpPr>
        <p:spPr>
          <a:xfrm>
            <a:off x="4892040" y="1216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Множитель 256</a:t>
            </a:r>
            <a:endParaRPr lang="en-US" sz="1500" dirty="0"/>
          </a:p>
        </p:txBody>
      </p:sp>
      <p:sp>
        <p:nvSpPr>
          <p:cNvPr id="8" name="text-79"/>
          <p:cNvSpPr txBox="1"/>
          <p:nvPr/>
        </p:nvSpPr>
        <p:spPr>
          <a:xfrm>
            <a:off x="4892040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Малые вероятности не уходят в ноль fp16; множитель снимается в fp32.</a:t>
            </a:r>
            <a:endParaRPr lang="en-US" sz="1200" dirty="0"/>
          </a:p>
        </p:txBody>
      </p:sp>
      <p:sp>
        <p:nvSpPr>
          <p:cNvPr id="9" name="card-80"/>
          <p:cNvSpPr/>
          <p:nvPr/>
        </p:nvSpPr>
        <p:spPr>
          <a:xfrm>
            <a:off x="457200" y="2258568"/>
            <a:ext cx="4023360" cy="1024128"/>
          </a:xfrm>
          <a:prstGeom prst="roundRect">
            <a:avLst>
              <a:gd name="adj" fmla="val 7143"/>
            </a:avLst>
          </a:prstGeom>
          <a:solidFill>
            <a:srgbClr val="EEF1F5"/>
          </a:solidFill>
          <a:ln/>
        </p:spPr>
      </p:sp>
      <p:sp>
        <p:nvSpPr>
          <p:cNvPr id="10" name="text-81"/>
          <p:cNvSpPr txBox="1"/>
          <p:nvPr/>
        </p:nvSpPr>
        <p:spPr>
          <a:xfrm>
            <a:off x="68580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Pad отброшен</a:t>
            </a:r>
            <a:endParaRPr lang="en-US" sz="1500" dirty="0"/>
          </a:p>
        </p:txBody>
      </p:sp>
      <p:sp>
        <p:nvSpPr>
          <p:cNvPr id="11" name="text-82"/>
          <p:cNvSpPr txBox="1"/>
          <p:nvPr/>
        </p:nvSpPr>
        <p:spPr>
          <a:xfrm>
            <a:off x="685800" y="27157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Считаются только позиции с attention_mask = 1; строки батчей не смешиваются.</a:t>
            </a:r>
            <a:endParaRPr lang="en-US" sz="1200" dirty="0"/>
          </a:p>
        </p:txBody>
      </p:sp>
      <p:sp>
        <p:nvSpPr>
          <p:cNvPr id="12" name="card-83"/>
          <p:cNvSpPr/>
          <p:nvPr/>
        </p:nvSpPr>
        <p:spPr>
          <a:xfrm>
            <a:off x="4663440" y="2258568"/>
            <a:ext cx="4023360" cy="1024128"/>
          </a:xfrm>
          <a:prstGeom prst="roundRect">
            <a:avLst>
              <a:gd name="adj" fmla="val 7143"/>
            </a:avLst>
          </a:prstGeom>
          <a:solidFill>
            <a:srgbClr val="EEF1F5"/>
          </a:solidFill>
          <a:ln/>
        </p:spPr>
      </p:sp>
      <p:sp>
        <p:nvSpPr>
          <p:cNvPr id="13" name="text-84"/>
          <p:cNvSpPr txBox="1"/>
          <p:nvPr/>
        </p:nvSpPr>
        <p:spPr>
          <a:xfrm>
            <a:off x="489204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Одна компиляция</a:t>
            </a:r>
            <a:endParaRPr lang="en-US" sz="1500" dirty="0"/>
          </a:p>
        </p:txBody>
      </p:sp>
      <p:sp>
        <p:nvSpPr>
          <p:cNvPr id="14" name="text-85"/>
          <p:cNvSpPr txBox="1"/>
          <p:nvPr/>
        </p:nvSpPr>
        <p:spPr>
          <a:xfrm>
            <a:off x="4892040" y="27157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Фиксированные тайлы, do_not_specialize: каждый кернел компилируется один раз.</a:t>
            </a:r>
            <a:endParaRPr lang="en-US" sz="1200" dirty="0"/>
          </a:p>
        </p:txBody>
      </p:sp>
      <p:sp>
        <p:nvSpPr>
          <p:cNvPr id="15" name="card-86"/>
          <p:cNvSpPr/>
          <p:nvPr/>
        </p:nvSpPr>
        <p:spPr>
          <a:xfrm>
            <a:off x="457200" y="3419856"/>
            <a:ext cx="4023360" cy="1024128"/>
          </a:xfrm>
          <a:prstGeom prst="roundRect">
            <a:avLst>
              <a:gd name="adj" fmla="val 7143"/>
            </a:avLst>
          </a:prstGeom>
          <a:solidFill>
            <a:srgbClr val="EEF1F5"/>
          </a:solidFill>
          <a:ln/>
        </p:spPr>
      </p:sp>
      <p:sp>
        <p:nvSpPr>
          <p:cNvPr id="16" name="text-87"/>
          <p:cNvSpPr txBox="1"/>
          <p:nvPr/>
        </p:nvSpPr>
        <p:spPr>
          <a:xfrm>
            <a:off x="685800" y="3538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Память T4</a:t>
            </a:r>
            <a:endParaRPr lang="en-US" sz="1500" dirty="0"/>
          </a:p>
        </p:txBody>
      </p:sp>
      <p:sp>
        <p:nvSpPr>
          <p:cNvPr id="17" name="text-88"/>
          <p:cNvSpPr txBox="1"/>
          <p:nvPr/>
        </p:nvSpPr>
        <p:spPr>
          <a:xfrm>
            <a:off x="685800" y="38770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24–32 КБ разделяемой памяти на блок при пределе 64 КБ.</a:t>
            </a:r>
            <a:endParaRPr lang="en-US" sz="1200" dirty="0"/>
          </a:p>
        </p:txBody>
      </p:sp>
      <p:sp>
        <p:nvSpPr>
          <p:cNvPr id="18" name="card-89"/>
          <p:cNvSpPr/>
          <p:nvPr/>
        </p:nvSpPr>
        <p:spPr>
          <a:xfrm>
            <a:off x="4663440" y="3419856"/>
            <a:ext cx="4023360" cy="1024128"/>
          </a:xfrm>
          <a:prstGeom prst="roundRect">
            <a:avLst>
              <a:gd name="adj" fmla="val 7143"/>
            </a:avLst>
          </a:prstGeom>
          <a:solidFill>
            <a:srgbClr val="EEF1F5"/>
          </a:solidFill>
          <a:ln/>
        </p:spPr>
      </p:sp>
      <p:sp>
        <p:nvSpPr>
          <p:cNvPr id="19" name="text-90"/>
          <p:cNvSpPr txBox="1"/>
          <p:nvPr/>
        </p:nvSpPr>
        <p:spPr>
          <a:xfrm>
            <a:off x="4892040" y="3538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Без подмены режимов</a:t>
            </a:r>
            <a:endParaRPr lang="en-US" sz="1500" dirty="0"/>
          </a:p>
        </p:txBody>
      </p:sp>
      <p:sp>
        <p:nvSpPr>
          <p:cNvPr id="20" name="text-91"/>
          <p:cNvSpPr txBox="1"/>
          <p:nvPr/>
        </p:nvSpPr>
        <p:spPr>
          <a:xfrm>
            <a:off x="4892040" y="38770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Встроенные режимы Soup выключены; патч — Qwen2 forward и compute_loss TRL.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Голова: в 2,3 раза быстрее, в 13 раз легче</a:t>
            </a:r>
            <a:endParaRPr lang="en-US" sz="2800" dirty="0"/>
          </a:p>
        </p:txBody>
      </p:sp>
      <p:graphicFrame>
        <p:nvGraphicFramePr>
          <p:cNvPr id="3" name="chart-92" descr=""/>
          <p:cNvGraphicFramePr/>
          <p:nvPr/>
        </p:nvGraphicFramePr>
        <p:xfrm>
          <a:off x="457200" y="105156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-93" descr=""/>
          <p:cNvGraphicFramePr/>
          <p:nvPr/>
        </p:nvGraphicFramePr>
        <p:xfrm>
          <a:off x="4663440" y="105156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-94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Замер: RTX 3050 6 GB, 4 строки до 400 токенов (1 160 позиций), голова 1 536 × 151 936. Логиты 35 мс против 36,5 у cuBLAS fp16 — хотя мы читаем fp32-веса.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То же обучение: метрики совпадают с базой</a:t>
            </a:r>
            <a:endParaRPr lang="en-US" sz="2800" dirty="0"/>
          </a:p>
        </p:txBody>
      </p:sp>
      <p:graphicFrame>
        <p:nvGraphicFramePr>
          <p:cNvPr id="9" name="table-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120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508760"/>
                <a:gridCol w="960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Величина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Отличие от базы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Допуск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11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Loss, первый шаг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11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0,0001%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11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1%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11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Loss, среднее по шагам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11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0,0001%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11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3%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11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Энтропия, точность, число токенов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11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0,0000%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11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3%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11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Loss строк в rewind.jsonl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11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≤ 0,0005%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11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3%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11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Пик памяти PyTorch (сквозной прогон)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11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2 030 → 473 МиБ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11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—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-96"/>
          <p:cNvSpPr/>
          <p:nvPr/>
        </p:nvSpPr>
        <p:spPr>
          <a:xfrm>
            <a:off x="5852160" y="109728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0E1116"/>
          </a:solidFill>
          <a:ln/>
        </p:spPr>
      </p:sp>
      <p:sp>
        <p:nvSpPr>
          <p:cNvPr id="5" name="text-97"/>
          <p:cNvSpPr txBox="1"/>
          <p:nvPr/>
        </p:nvSpPr>
        <p:spPr>
          <a:xfrm>
            <a:off x="608076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79</a:t>
            </a:r>
            <a:endParaRPr lang="en-US" sz="4800" dirty="0"/>
          </a:p>
        </p:txBody>
      </p:sp>
      <p:sp>
        <p:nvSpPr>
          <p:cNvPr id="6" name="text-98"/>
          <p:cNvSpPr txBox="1"/>
          <p:nvPr/>
        </p:nvSpPr>
        <p:spPr>
          <a:xfrm>
            <a:off x="608076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тестов Soup проходят с нашими патчами</a:t>
            </a:r>
            <a:endParaRPr lang="en-US" sz="1200" dirty="0"/>
          </a:p>
        </p:txBody>
      </p:sp>
      <p:sp>
        <p:nvSpPr>
          <p:cNvPr id="7" name="card-99"/>
          <p:cNvSpPr/>
          <p:nvPr/>
        </p:nvSpPr>
        <p:spPr>
          <a:xfrm>
            <a:off x="5852160" y="2743200"/>
            <a:ext cx="2834640" cy="1325880"/>
          </a:xfrm>
          <a:prstGeom prst="roundRect">
            <a:avLst>
              <a:gd name="adj" fmla="val 5517"/>
            </a:avLst>
          </a:prstGeom>
          <a:solidFill>
            <a:srgbClr val="EEF1F5"/>
          </a:solidFill>
          <a:ln/>
        </p:spPr>
      </p:sp>
      <p:sp>
        <p:nvSpPr>
          <p:cNvPr id="8" name="text-100"/>
          <p:cNvSpPr txBox="1"/>
          <p:nvPr/>
        </p:nvSpPr>
        <p:spPr>
          <a:xfrm>
            <a:off x="6035040" y="288036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Сквозной прогон: TRL SFTTrainer + RewindSFTTrainer Soup, LoRA r=16 на q/v, fp16, 12 шагов. Кернелы проверены против PyTorch, включая реальный размер головы.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Ограничения и следующие шаги</a:t>
            </a:r>
            <a:endParaRPr lang="en-US" sz="2800" dirty="0"/>
          </a:p>
        </p:txBody>
      </p:sp>
      <p:sp>
        <p:nvSpPr>
          <p:cNvPr id="3" name="text-101"/>
          <p:cNvSpPr txBox="1"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Ограничения</a:t>
            </a:r>
            <a:endParaRPr lang="en-US" sz="1800" dirty="0"/>
          </a:p>
        </p:txBody>
      </p:sp>
      <p:sp>
        <p:nvSpPr>
          <p:cNvPr id="4" name="chip-102"/>
          <p:cNvSpPr/>
          <p:nvPr/>
        </p:nvSpPr>
        <p:spPr>
          <a:xfrm>
            <a:off x="457200" y="1645920"/>
            <a:ext cx="384048" cy="384048"/>
          </a:xfrm>
          <a:prstGeom prst="ellipse">
            <a:avLst/>
          </a:prstGeom>
          <a:solidFill>
            <a:srgbClr val="7C8799"/>
          </a:solidFill>
          <a:ln/>
        </p:spPr>
      </p:sp>
      <p:sp>
        <p:nvSpPr>
          <p:cNvPr id="5" name="text-103"/>
          <p:cNvSpPr txBox="1"/>
          <p:nvPr/>
        </p:nvSpPr>
        <p:spPr>
          <a:xfrm>
            <a:off x="4572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-104"/>
          <p:cNvSpPr txBox="1"/>
          <p:nvPr/>
        </p:nvSpPr>
        <p:spPr>
          <a:xfrm>
            <a:off x="960120" y="164592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AE1"/>
                </a:solidFill>
              </a:rPr>
              <a:t>Ускорена только голова: 44% поэлементных операций остаются как в базе</a:t>
            </a:r>
            <a:endParaRPr lang="en-US" sz="1300" dirty="0"/>
          </a:p>
        </p:txBody>
      </p:sp>
      <p:sp>
        <p:nvSpPr>
          <p:cNvPr id="7" name="chip-105"/>
          <p:cNvSpPr/>
          <p:nvPr/>
        </p:nvSpPr>
        <p:spPr>
          <a:xfrm>
            <a:off x="457200" y="2359152"/>
            <a:ext cx="384048" cy="384048"/>
          </a:xfrm>
          <a:prstGeom prst="ellipse">
            <a:avLst/>
          </a:prstGeom>
          <a:solidFill>
            <a:srgbClr val="7C8799"/>
          </a:solidFill>
          <a:ln/>
        </p:spPr>
      </p:sp>
      <p:sp>
        <p:nvSpPr>
          <p:cNvPr id="8" name="text-106"/>
          <p:cNvSpPr txBox="1"/>
          <p:nvPr/>
        </p:nvSpPr>
        <p:spPr>
          <a:xfrm>
            <a:off x="45720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-107"/>
          <p:cNvSpPr txBox="1"/>
          <p:nvPr/>
        </p:nvSpPr>
        <p:spPr>
          <a:xfrm>
            <a:off x="960120" y="235915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AE1"/>
                </a:solidFill>
              </a:rPr>
              <a:t>Pad отбрасывается только в голове, декодер считает его по-прежнему</a:t>
            </a:r>
            <a:endParaRPr lang="en-US" sz="1300" dirty="0"/>
          </a:p>
        </p:txBody>
      </p:sp>
      <p:sp>
        <p:nvSpPr>
          <p:cNvPr id="10" name="chip-108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rgbClr val="7C8799"/>
          </a:solidFill>
          <a:ln/>
        </p:spPr>
      </p:sp>
      <p:sp>
        <p:nvSpPr>
          <p:cNvPr id="11" name="text-109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-110"/>
          <p:cNvSpPr txBox="1"/>
          <p:nvPr/>
        </p:nvSpPr>
        <p:spPr>
          <a:xfrm>
            <a:off x="960120" y="307238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AE1"/>
                </a:solidFill>
              </a:rPr>
              <a:t>atomic_add делает градиент недетерминированным на уровне округления</a:t>
            </a:r>
            <a:endParaRPr lang="en-US" sz="1300" dirty="0"/>
          </a:p>
        </p:txBody>
      </p:sp>
      <p:sp>
        <p:nvSpPr>
          <p:cNvPr id="13" name="chip-111"/>
          <p:cNvSpPr/>
          <p:nvPr/>
        </p:nvSpPr>
        <p:spPr>
          <a:xfrm>
            <a:off x="457200" y="3785616"/>
            <a:ext cx="384048" cy="384048"/>
          </a:xfrm>
          <a:prstGeom prst="ellipse">
            <a:avLst/>
          </a:prstGeom>
          <a:solidFill>
            <a:srgbClr val="7C8799"/>
          </a:solidFill>
          <a:ln/>
        </p:spPr>
      </p:sp>
      <p:sp>
        <p:nvSpPr>
          <p:cNvPr id="14" name="text-112"/>
          <p:cNvSpPr txBox="1"/>
          <p:nvPr/>
        </p:nvSpPr>
        <p:spPr>
          <a:xfrm>
            <a:off x="45720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-113"/>
          <p:cNvSpPr txBox="1"/>
          <p:nvPr/>
        </p:nvSpPr>
        <p:spPr>
          <a:xfrm>
            <a:off x="960120" y="378561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AE1"/>
                </a:solidFill>
              </a:rPr>
              <a:t>Тайлы подобраны на Ampere с запасом по памяти Turing</a:t>
            </a:r>
            <a:endParaRPr lang="en-US" sz="1300" dirty="0"/>
          </a:p>
        </p:txBody>
      </p:sp>
      <p:sp>
        <p:nvSpPr>
          <p:cNvPr id="16" name="text-114"/>
          <p:cNvSpPr txBox="1"/>
          <p:nvPr/>
        </p:nvSpPr>
        <p:spPr>
          <a:xfrm>
            <a:off x="466344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Что дальше</a:t>
            </a:r>
            <a:endParaRPr lang="en-US" sz="1800" dirty="0"/>
          </a:p>
        </p:txBody>
      </p:sp>
      <p:sp>
        <p:nvSpPr>
          <p:cNvPr id="17" name="chip-115"/>
          <p:cNvSpPr/>
          <p:nvPr/>
        </p:nvSpPr>
        <p:spPr>
          <a:xfrm>
            <a:off x="4663440" y="1645920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8" name="text-116"/>
          <p:cNvSpPr txBox="1"/>
          <p:nvPr/>
        </p:nvSpPr>
        <p:spPr>
          <a:xfrm>
            <a:off x="46634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text-117"/>
          <p:cNvSpPr txBox="1"/>
          <p:nvPr/>
        </p:nvSpPr>
        <p:spPr>
          <a:xfrm>
            <a:off x="5166360" y="164592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AE1"/>
                </a:solidFill>
              </a:rPr>
              <a:t>Слитый RMSNorm + приведение к fp16</a:t>
            </a:r>
            <a:endParaRPr lang="en-US" sz="1300" dirty="0"/>
          </a:p>
        </p:txBody>
      </p:sp>
      <p:sp>
        <p:nvSpPr>
          <p:cNvPr id="20" name="chip-118"/>
          <p:cNvSpPr/>
          <p:nvPr/>
        </p:nvSpPr>
        <p:spPr>
          <a:xfrm>
            <a:off x="4663440" y="2359152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1" name="text-119"/>
          <p:cNvSpPr txBox="1"/>
          <p:nvPr/>
        </p:nvSpPr>
        <p:spPr>
          <a:xfrm>
            <a:off x="466344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-120"/>
          <p:cNvSpPr txBox="1"/>
          <p:nvPr/>
        </p:nvSpPr>
        <p:spPr>
          <a:xfrm>
            <a:off x="5166360" y="235915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AE1"/>
                </a:solidFill>
              </a:rPr>
              <a:t>Слитая LoRA-добавка в q_proj и v_proj</a:t>
            </a:r>
            <a:endParaRPr lang="en-US" sz="1300" dirty="0"/>
          </a:p>
        </p:txBody>
      </p:sp>
      <p:sp>
        <p:nvSpPr>
          <p:cNvPr id="23" name="chip-121"/>
          <p:cNvSpPr/>
          <p:nvPr/>
        </p:nvSpPr>
        <p:spPr>
          <a:xfrm>
            <a:off x="4663440" y="3072384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4" name="text-122"/>
          <p:cNvSpPr txBox="1"/>
          <p:nvPr/>
        </p:nvSpPr>
        <p:spPr>
          <a:xfrm>
            <a:off x="466344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-123"/>
          <p:cNvSpPr txBox="1"/>
          <p:nvPr/>
        </p:nvSpPr>
        <p:spPr>
          <a:xfrm>
            <a:off x="5166360" y="307238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AE1"/>
                </a:solidFill>
              </a:rPr>
              <a:t>Распаковка NF4 прямо внутри умножения</a:t>
            </a:r>
            <a:endParaRPr lang="en-US" sz="1300" dirty="0"/>
          </a:p>
        </p:txBody>
      </p:sp>
      <p:sp>
        <p:nvSpPr>
          <p:cNvPr id="26" name="chip-124"/>
          <p:cNvSpPr/>
          <p:nvPr/>
        </p:nvSpPr>
        <p:spPr>
          <a:xfrm>
            <a:off x="4663440" y="3785616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7" name="text-125"/>
          <p:cNvSpPr txBox="1"/>
          <p:nvPr/>
        </p:nvSpPr>
        <p:spPr>
          <a:xfrm>
            <a:off x="46634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-126"/>
          <p:cNvSpPr txBox="1"/>
          <p:nvPr/>
        </p:nvSpPr>
        <p:spPr>
          <a:xfrm>
            <a:off x="5166360" y="378561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AE1"/>
                </a:solidFill>
              </a:rPr>
              <a:t>Удаление pad во всём декодере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Тот же адаптер. Меньше памяти. Быстрее.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github.com/TursynbaiAyan/soup-kernel-challenge</a:t>
            </a:r>
            <a:endParaRPr lang="en-US" sz="1800" dirty="0"/>
          </a:p>
        </p:txBody>
      </p:sp>
      <p:sp>
        <p:nvSpPr>
          <p:cNvPr id="4" name="text-127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Идеи: Liger-Kernel FLCE, Cut Cross-Entropy (arXiv 2411.09009), online softmax (arXiv 1805.02867), туториал Triton по matmul. Код написан нами.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p Kernel">
  <a:themeElements>
    <a:clrScheme name="Soup Kernel">
      <a:dk1>
        <a:srgbClr val="0E1116"/>
      </a:dk1>
      <a:lt1>
        <a:srgbClr val="FFFFFF"/>
      </a:lt1>
      <a:dk2>
        <a:srgbClr val="1B2230"/>
      </a:dk2>
      <a:lt2>
        <a:srgbClr val="EEF1F5"/>
      </a:lt2>
      <a:accent1>
        <a:srgbClr val="F5A524"/>
      </a:accent1>
      <a:accent2>
        <a:srgbClr val="2EC4B6"/>
      </a:accent2>
      <a:accent3>
        <a:srgbClr val="7C8799"/>
      </a:accent3>
      <a:accent4>
        <a:srgbClr val="E4572E"/>
      </a:accent4>
      <a:accent5>
        <a:srgbClr val="9BE564"/>
      </a:accent5>
      <a:accent6>
        <a:srgbClr val="5B6CFF"/>
      </a:accent6>
      <a:hlink>
        <a:srgbClr val="2EC4B6"/>
      </a:hlink>
      <a:folHlink>
        <a:srgbClr val="7C8799"/>
      </a:folHlink>
    </a:clrScheme>
    <a:fontScheme name="Soup Kerne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Soup Kernel Challenge — Brightly Production</dc:title>
  <dc:subject>PptxGenJS Presentation</dc:subject>
  <dc:creator>Brightly Production</dc:creator>
  <cp:lastModifiedBy>Brightly Production</cp:lastModifiedBy>
  <cp:revision>1</cp:revision>
  <dcterms:created xsi:type="dcterms:W3CDTF">2026-10-31T16:41:44Z</dcterms:created>
  <dcterms:modified xsi:type="dcterms:W3CDTF">2026-10-31T16:41:44Z</dcterms:modified>
</cp:coreProperties>
</file>